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8" r:id="rId7"/>
    <p:sldId id="274" r:id="rId8"/>
    <p:sldId id="272" r:id="rId9"/>
    <p:sldId id="262" r:id="rId10"/>
    <p:sldId id="265" r:id="rId11"/>
    <p:sldId id="266" r:id="rId12"/>
    <p:sldId id="273" r:id="rId13"/>
    <p:sldId id="275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6A103-2FEF-6AC9-3F2D-557493C3E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11B5FA8-32AB-5FCA-616D-79A59F85E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BD4878-A5BC-8F41-178D-81BB8F34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271BBF-5E8E-59D3-8DEA-11F3D572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65566D-9A45-104B-C5B0-20BD8AC3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78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30559-0F43-31F2-C69D-4DA49A59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791D52-96DD-8383-D0CB-8BE064F69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82C089-DD5F-DA7C-5379-AA7E097B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4C2525-3303-587E-BD5A-9F0D91B3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C27F02-80BC-A70C-6A9F-7BB46F0B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65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3ADB10-8445-E0B6-FA20-ACD0F7E62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D49BD-78E8-701F-60E3-857315083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90F441-BC00-DBDF-FC21-50DBB703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78D97E-6815-F576-8134-87A5587F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5AE9CD-2518-06AB-1BA2-FEBF04DA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990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BEE82A-3614-BE09-0EFE-3757E2EF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A2F9A8-795C-6CC3-92B8-A22FD0874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F0F7EF-0489-491A-921C-C64D8E47A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DC4BAB-8362-0DCE-2438-B412AFCA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FFBDE8-CFF1-7490-FE49-5980A50F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242DB0-BA87-AC0B-0EEF-24CCA6E46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65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853AA6-7B3A-75C8-D71D-C7B9EA17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EAF81A-1C98-3561-04AE-1D8CF73F4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77105A-F1C4-3277-9D04-E4F476E2E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467A433-6CDC-CBE1-4A5F-C1D470696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AF7D79C-8E03-AE04-7228-9981961CE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E1F1320-521E-B64F-4644-4918BFD0D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80A16C9-DE73-6245-C9CE-AF1430B3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6B1256-A987-22F0-DA54-EC16DD18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101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8B991B-79D9-D4C3-25F2-DA5C42AD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D01D1B-7AAE-DC4B-32DB-77F70A2B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6FD3E53-F7BB-669B-A490-4D627D4F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F40E075-998A-B0A9-2650-A935C6C2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8471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07A08CE-4619-187E-2591-C19CC712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FDB0A1-B3D3-1665-C461-89A90ACD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ED668B-F0A2-18A8-F608-511326E6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53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2431D8-36E8-ABAD-6782-5E5FD5D0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CE9988-A0DA-9545-39D1-FF6F99675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C86442-8F7F-DE30-1FF1-DC1528BEC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3A285D-088C-E2BE-CD9F-05D89FF7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73BB28-510F-A17F-E5F7-EC27E9D86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A62053-4A90-AA44-AB3F-B12371D3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40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EACD4C-D87E-062E-6683-620FF3F2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B2A908-9259-6957-CFA7-123448EC3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6EE09D-20DA-BDE2-835D-68AB452B5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7B61F6-A951-A083-BE16-8FE3E1A2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E00081-50B0-51CD-5781-4A14B4579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485EDF-E46A-2EC3-10B8-F81820E7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61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9E7E6-B2A5-4B20-C142-5EBADF7D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E06016-00F0-6890-8899-BBF049793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94FDEC-00D7-5C46-646D-076083F0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63F7B3-8864-EA55-8CAA-31EE47DBC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D5A6EE-AE6D-C534-1635-1AF9509C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45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068544-831F-8A8A-597C-370844AF4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7E60175-6924-A0C4-40F8-06A3BF360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3013CD-6406-D91E-B059-03C2088B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14A966-00F8-0348-8EC9-4C2A3ADC1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CBCC56-3501-1A58-7A17-822A8BA2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089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3774731-1491-16CF-6BE4-AB4EDB4A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A7EBA6-EF92-D7BA-8B5B-62465A5DB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E385E9-4600-BA3D-1005-84BC6C37B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D5471-9028-4941-B211-1BE07AB99CCD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96F4C0-14E5-8F3A-0495-A2B2C0233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C757C3-7F0B-E762-3C31-03B80580D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6B3D5-1B5E-457E-9DA2-4212DBEB7E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218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ws@softadvance.co.j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27A4B0-E293-F58E-B4DE-9905651D9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35037"/>
          </a:xfrm>
        </p:spPr>
        <p:txBody>
          <a:bodyPr>
            <a:normAutofit/>
          </a:bodyPr>
          <a:lstStyle/>
          <a:p>
            <a:pPr algn="l"/>
            <a:r>
              <a:rPr lang="zh-TW" altLang="en-US" sz="2200" dirty="0">
                <a:latin typeface="HGS教科書体" panose="02020600000000000000" pitchFamily="18" charset="-128"/>
                <a:ea typeface="HGS教科書体" panose="02020600000000000000" pitchFamily="18" charset="-128"/>
              </a:rPr>
              <a:t>一般社団法人秋田県情報産業協会</a:t>
            </a:r>
            <a:br>
              <a:rPr lang="en-US" altLang="zh-TW" sz="2200" dirty="0">
                <a:latin typeface="HGS教科書体" panose="02020600000000000000" pitchFamily="18" charset="-128"/>
                <a:ea typeface="HGS教科書体" panose="02020600000000000000" pitchFamily="18" charset="-128"/>
              </a:rPr>
            </a:br>
            <a:r>
              <a:rPr lang="zh-TW" altLang="en-US" sz="2200" dirty="0">
                <a:latin typeface="HGS教科書体" panose="02020600000000000000" pitchFamily="18" charset="-128"/>
                <a:ea typeface="HGS教科書体" panose="02020600000000000000" pitchFamily="18" charset="-128"/>
              </a:rPr>
              <a:t>令和８年度 第１７回</a:t>
            </a:r>
            <a:r>
              <a:rPr lang="ja-JP" altLang="en-US" sz="2200" dirty="0">
                <a:latin typeface="HGS教科書体" panose="02020600000000000000" pitchFamily="18" charset="-128"/>
                <a:ea typeface="HGS教科書体" panose="02020600000000000000" pitchFamily="18" charset="-128"/>
              </a:rPr>
              <a:t> </a:t>
            </a:r>
            <a:r>
              <a:rPr lang="zh-TW" altLang="en-US" sz="2400" dirty="0">
                <a:latin typeface="HGS教科書体" panose="02020600000000000000" pitchFamily="18" charset="-128"/>
                <a:ea typeface="HGS教科書体" panose="02020600000000000000" pitchFamily="18" charset="-128"/>
              </a:rPr>
              <a:t>合同新入社員研修（一般研修）</a:t>
            </a:r>
            <a:endParaRPr kumimoji="1" lang="ja-JP" altLang="en-US" dirty="0"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92F13A-36CE-138F-0EEF-562E3432E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06662"/>
            <a:ext cx="9144000" cy="3228975"/>
          </a:xfrm>
        </p:spPr>
        <p:txBody>
          <a:bodyPr>
            <a:normAutofit lnSpcReduction="10000"/>
          </a:bodyPr>
          <a:lstStyle/>
          <a:p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３．</a:t>
            </a:r>
            <a:r>
              <a:rPr lang="en-US" altLang="ja-JP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I</a:t>
            </a:r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 開 発 セ ミ ナ ー</a:t>
            </a:r>
            <a:endParaRPr lang="en-US" altLang="ja-JP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４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１０（金）１３：００ー１６：３０</a:t>
            </a: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「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と一緒にアプリを作ってみよう 」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講師）ソフトアドバンス株式会社</a:t>
            </a:r>
          </a:p>
        </p:txBody>
      </p:sp>
    </p:spTree>
    <p:extLst>
      <p:ext uri="{BB962C8B-B14F-4D97-AF65-F5344CB8AC3E}">
        <p14:creationId xmlns:p14="http://schemas.microsoft.com/office/powerpoint/2010/main" val="3421013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EBF59-8B34-2D15-F480-4FB2C412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000"/>
          </a:xfrm>
        </p:spPr>
        <p:txBody>
          <a:bodyPr/>
          <a:lstStyle/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講師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802DF0-44F8-F9FF-4E48-8D875F5F4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17688"/>
            <a:ext cx="5143500" cy="1884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菅原 亘　（すがわら わたる）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  <a:hlinkClick r:id="rId2"/>
              </a:rPr>
              <a:t>ws@softadvance.co.jp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090-3562-9534</a:t>
            </a: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ソフトアドバンス株式会社 代表取締役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C9AA7C55-9ED5-3376-8FD9-304EAF43DADB}"/>
              </a:ext>
            </a:extLst>
          </p:cNvPr>
          <p:cNvSpPr txBox="1">
            <a:spLocks/>
          </p:cNvSpPr>
          <p:nvPr/>
        </p:nvSpPr>
        <p:spPr>
          <a:xfrm>
            <a:off x="7781925" y="2873375"/>
            <a:ext cx="3886200" cy="3222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09F64EF4-4E07-6E15-79FB-2F184A9A0DB9}"/>
              </a:ext>
            </a:extLst>
          </p:cNvPr>
          <p:cNvSpPr txBox="1">
            <a:spLocks/>
          </p:cNvSpPr>
          <p:nvPr/>
        </p:nvSpPr>
        <p:spPr>
          <a:xfrm>
            <a:off x="6953250" y="1825625"/>
            <a:ext cx="5029200" cy="3222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1BE064E3-2ED6-0F63-A75A-B6CD7981949A}"/>
              </a:ext>
            </a:extLst>
          </p:cNvPr>
          <p:cNvSpPr txBox="1">
            <a:spLocks/>
          </p:cNvSpPr>
          <p:nvPr/>
        </p:nvSpPr>
        <p:spPr>
          <a:xfrm>
            <a:off x="6096000" y="3702050"/>
            <a:ext cx="6553200" cy="1870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技術士（情報工学）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高度情報処理技術者（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PM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第一種情報処理技術者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元）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IT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コーディネーター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ケース研修講師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7B303C40-A2FD-DBDA-E611-A1A712D16895}"/>
              </a:ext>
            </a:extLst>
          </p:cNvPr>
          <p:cNvSpPr txBox="1">
            <a:spLocks/>
          </p:cNvSpPr>
          <p:nvPr/>
        </p:nvSpPr>
        <p:spPr>
          <a:xfrm>
            <a:off x="952500" y="5572125"/>
            <a:ext cx="7543800" cy="1768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ブラウブリッツ秋田 公式写真班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秋田南高校 プレゼンテーション外部講師</a:t>
            </a: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06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C4045E-FDEA-CFAE-142D-1E4918E2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と一緒にアプリを作ってみよう」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23B85E-A3C9-F3DC-BAC4-B8CD32A33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まずはやってみよう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開発環境を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GET</a:t>
            </a:r>
          </a:p>
          <a:p>
            <a:pPr lvl="1"/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r>
              <a:rPr kumimoji="1" lang="en-US" altLang="ja-JP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ClaudeCode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の セットアップ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アプリを作る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学ぶ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792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BF49F-8D4C-5CC1-C348-93B2A744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4742A7-1A3E-A0DD-6362-726A4F1A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ja-JP" altLang="en-US" sz="2800" dirty="0"/>
              <a:t>開発環境を</a:t>
            </a:r>
            <a:r>
              <a:rPr lang="en-US" altLang="ja-JP" sz="2800" dirty="0"/>
              <a:t>GET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A3A0BB-0A42-8B4A-B403-51005B80D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5675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https://github.com/SoftAdvance/ai-dev-seminar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BDB1949F-0619-A226-D1CB-B96B95B057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13" t="38186" r="26696" b="8043"/>
          <a:stretch>
            <a:fillRect/>
          </a:stretch>
        </p:blipFill>
        <p:spPr>
          <a:xfrm>
            <a:off x="1304925" y="2443161"/>
            <a:ext cx="5143500" cy="4293165"/>
          </a:xfrm>
          <a:prstGeom prst="rect">
            <a:avLst/>
          </a:prstGeom>
        </p:spPr>
      </p:pic>
      <p:sp>
        <p:nvSpPr>
          <p:cNvPr id="4" name="矢印: 下 3">
            <a:extLst>
              <a:ext uri="{FF2B5EF4-FFF2-40B4-BE49-F238E27FC236}">
                <a16:creationId xmlns:a16="http://schemas.microsoft.com/office/drawing/2014/main" id="{6D21BE67-A8B4-5A30-3432-E9E4F542FF43}"/>
              </a:ext>
            </a:extLst>
          </p:cNvPr>
          <p:cNvSpPr/>
          <p:nvPr/>
        </p:nvSpPr>
        <p:spPr>
          <a:xfrm rot="1886219">
            <a:off x="5291224" y="2575946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２</a:t>
            </a:r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CF6FB668-E508-D3E1-2722-787118220610}"/>
              </a:ext>
            </a:extLst>
          </p:cNvPr>
          <p:cNvSpPr/>
          <p:nvPr/>
        </p:nvSpPr>
        <p:spPr>
          <a:xfrm rot="1886219">
            <a:off x="5014999" y="3537660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３</a:t>
            </a: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44006327-CCC3-C32C-1F09-5F86728C1001}"/>
              </a:ext>
            </a:extLst>
          </p:cNvPr>
          <p:cNvSpPr/>
          <p:nvPr/>
        </p:nvSpPr>
        <p:spPr>
          <a:xfrm rot="1886219">
            <a:off x="5347314" y="4514051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４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FB9EDD-98BA-E251-82D9-CD3DB52FD4C9}"/>
              </a:ext>
            </a:extLst>
          </p:cNvPr>
          <p:cNvSpPr txBox="1"/>
          <p:nvPr/>
        </p:nvSpPr>
        <p:spPr>
          <a:xfrm>
            <a:off x="7579886" y="3026379"/>
            <a:ext cx="34766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１．</a:t>
            </a:r>
            <a:r>
              <a:rPr kumimoji="1" lang="en-US" altLang="ja-JP" dirty="0" err="1"/>
              <a:t>Github</a:t>
            </a:r>
            <a:r>
              <a:rPr kumimoji="1" lang="ja-JP" altLang="en-US" dirty="0"/>
              <a:t> から</a:t>
            </a:r>
            <a:endParaRPr kumimoji="1" lang="en-US" altLang="ja-JP" dirty="0"/>
          </a:p>
          <a:p>
            <a:r>
              <a:rPr kumimoji="1" lang="ja-JP" altLang="en-US" dirty="0"/>
              <a:t>２．マスタをコピって</a:t>
            </a:r>
            <a:endParaRPr kumimoji="1" lang="en-US" altLang="ja-JP" dirty="0"/>
          </a:p>
          <a:p>
            <a:r>
              <a:rPr lang="ja-JP" altLang="en-US" dirty="0"/>
              <a:t>３．</a:t>
            </a:r>
            <a:r>
              <a:rPr kumimoji="1" lang="en-US" altLang="ja-JP" dirty="0" err="1"/>
              <a:t>Codespace</a:t>
            </a:r>
            <a:r>
              <a:rPr kumimoji="1" lang="ja-JP" altLang="en-US" dirty="0"/>
              <a:t>を作り</a:t>
            </a:r>
            <a:endParaRPr kumimoji="1" lang="en-US" altLang="ja-JP" dirty="0"/>
          </a:p>
          <a:p>
            <a:r>
              <a:rPr lang="ja-JP" altLang="en-US" dirty="0"/>
              <a:t>４．</a:t>
            </a:r>
            <a:r>
              <a:rPr lang="ja-JP" altLang="en-US" b="1" dirty="0"/>
              <a:t>名前</a:t>
            </a:r>
            <a:r>
              <a:rPr lang="ja-JP" altLang="en-US" dirty="0"/>
              <a:t>を付けて</a:t>
            </a:r>
            <a:endParaRPr lang="en-US" altLang="ja-JP" dirty="0"/>
          </a:p>
          <a:p>
            <a:r>
              <a:rPr kumimoji="1" lang="ja-JP" altLang="en-US" dirty="0"/>
              <a:t>５．立ち上げる。</a:t>
            </a: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33373F7B-4305-1E49-95BD-952D56DB5C5F}"/>
              </a:ext>
            </a:extLst>
          </p:cNvPr>
          <p:cNvSpPr/>
          <p:nvPr/>
        </p:nvSpPr>
        <p:spPr>
          <a:xfrm rot="1886219">
            <a:off x="3529099" y="1084987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１</a:t>
            </a:r>
          </a:p>
        </p:txBody>
      </p:sp>
      <p:sp>
        <p:nvSpPr>
          <p:cNvPr id="13" name="矢印: 下 12">
            <a:extLst>
              <a:ext uri="{FF2B5EF4-FFF2-40B4-BE49-F238E27FC236}">
                <a16:creationId xmlns:a16="http://schemas.microsoft.com/office/drawing/2014/main" id="{831D3DEA-F3E5-7231-288A-064EC007F2D0}"/>
              </a:ext>
            </a:extLst>
          </p:cNvPr>
          <p:cNvSpPr/>
          <p:nvPr/>
        </p:nvSpPr>
        <p:spPr>
          <a:xfrm rot="1886219">
            <a:off x="2108814" y="4472884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５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41944FF-9B08-7AA3-F5DB-BF1E4B0E1BC6}"/>
              </a:ext>
            </a:extLst>
          </p:cNvPr>
          <p:cNvSpPr txBox="1"/>
          <p:nvPr/>
        </p:nvSpPr>
        <p:spPr>
          <a:xfrm>
            <a:off x="7579886" y="4748786"/>
            <a:ext cx="4393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名前：</a:t>
            </a:r>
            <a:br>
              <a:rPr lang="en-US" altLang="ja-JP" b="1" dirty="0"/>
            </a:br>
            <a:r>
              <a:rPr lang="ja-JP" altLang="en-US" dirty="0"/>
              <a:t>☆自分にも周囲にもわかる名前を。</a:t>
            </a:r>
            <a:br>
              <a:rPr lang="en-US" altLang="ja-JP" dirty="0"/>
            </a:br>
            <a:r>
              <a:rPr lang="ja-JP" altLang="en-US" dirty="0"/>
              <a:t>☆ローマ字で。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2042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768D-E0D2-6B4D-2AF8-4E20B576E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E2411CC8-F63D-FABB-EECB-05D1143AA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83" y="1488903"/>
            <a:ext cx="5953634" cy="493662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2264252-12AC-6F27-A4D5-87F6B875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kumimoji="1" lang="en-US" altLang="ja-JP" sz="2800" dirty="0" err="1"/>
              <a:t>ClaudeCode</a:t>
            </a:r>
            <a:r>
              <a:rPr kumimoji="1" lang="ja-JP" altLang="en-US" sz="2800" dirty="0"/>
              <a:t> の セットアップ</a:t>
            </a:r>
            <a:endParaRPr lang="en-US" altLang="ja-JP" sz="2800" dirty="0"/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434F0659-C958-78E1-419E-6D4427549175}"/>
              </a:ext>
            </a:extLst>
          </p:cNvPr>
          <p:cNvSpPr/>
          <p:nvPr/>
        </p:nvSpPr>
        <p:spPr>
          <a:xfrm rot="1886219">
            <a:off x="3541193" y="1690006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２</a:t>
            </a:r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4F35504D-7D78-A5FE-E857-7A67EA3F5630}"/>
              </a:ext>
            </a:extLst>
          </p:cNvPr>
          <p:cNvSpPr/>
          <p:nvPr/>
        </p:nvSpPr>
        <p:spPr>
          <a:xfrm rot="1886219">
            <a:off x="4030997" y="4472885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３</a:t>
            </a: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2FDA941E-4859-6737-0C56-053AD1D19458}"/>
              </a:ext>
            </a:extLst>
          </p:cNvPr>
          <p:cNvSpPr/>
          <p:nvPr/>
        </p:nvSpPr>
        <p:spPr>
          <a:xfrm rot="1886219">
            <a:off x="6123989" y="4348361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４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296BA17-DF87-312C-C89C-1C10EE4C016F}"/>
              </a:ext>
            </a:extLst>
          </p:cNvPr>
          <p:cNvSpPr txBox="1"/>
          <p:nvPr/>
        </p:nvSpPr>
        <p:spPr>
          <a:xfrm>
            <a:off x="7440937" y="3080051"/>
            <a:ext cx="46121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１．ここにファイル</a:t>
            </a:r>
            <a:endParaRPr kumimoji="1" lang="en-US" altLang="ja-JP" dirty="0"/>
          </a:p>
          <a:p>
            <a:r>
              <a:rPr kumimoji="1" lang="ja-JP" altLang="en-US" dirty="0"/>
              <a:t>２．ここがエディタ</a:t>
            </a:r>
            <a:endParaRPr kumimoji="1" lang="en-US" altLang="ja-JP" dirty="0"/>
          </a:p>
          <a:p>
            <a:r>
              <a:rPr lang="ja-JP" altLang="en-US" dirty="0"/>
              <a:t>３．ここが「ターミナル」</a:t>
            </a:r>
            <a:endParaRPr kumimoji="1" lang="en-US" altLang="ja-JP" dirty="0"/>
          </a:p>
          <a:p>
            <a:r>
              <a:rPr lang="ja-JP" altLang="en-US" dirty="0"/>
              <a:t>４．</a:t>
            </a:r>
            <a:r>
              <a:rPr lang="ja-JP" altLang="en-US" b="1" dirty="0"/>
              <a:t>「＋」</a:t>
            </a:r>
            <a:r>
              <a:rPr lang="ja-JP" altLang="en-US" dirty="0"/>
              <a:t>でターミナル追加</a:t>
            </a:r>
            <a:endParaRPr lang="en-US" altLang="ja-JP" dirty="0"/>
          </a:p>
          <a:p>
            <a:r>
              <a:rPr kumimoji="1" lang="ja-JP" altLang="en-US" dirty="0"/>
              <a:t>５．ここにコマンドを入れる。</a:t>
            </a:r>
            <a:endParaRPr kumimoji="1" lang="en-US" altLang="ja-JP" dirty="0"/>
          </a:p>
          <a:p>
            <a:r>
              <a:rPr lang="ja-JP" altLang="en-US" dirty="0"/>
              <a:t>６．クリップボードアクセス許可（任意）</a:t>
            </a:r>
            <a:endParaRPr kumimoji="1" lang="ja-JP" altLang="en-US" dirty="0"/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6BB694D4-2321-CB94-FE68-B04FDBA9FA7B}"/>
              </a:ext>
            </a:extLst>
          </p:cNvPr>
          <p:cNvSpPr/>
          <p:nvPr/>
        </p:nvSpPr>
        <p:spPr>
          <a:xfrm rot="1886219">
            <a:off x="1900324" y="1587547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１</a:t>
            </a:r>
          </a:p>
        </p:txBody>
      </p:sp>
      <p:sp>
        <p:nvSpPr>
          <p:cNvPr id="13" name="矢印: 下 12">
            <a:extLst>
              <a:ext uri="{FF2B5EF4-FFF2-40B4-BE49-F238E27FC236}">
                <a16:creationId xmlns:a16="http://schemas.microsoft.com/office/drawing/2014/main" id="{D14862D2-79E4-C7FA-E571-1209B778EC1B}"/>
              </a:ext>
            </a:extLst>
          </p:cNvPr>
          <p:cNvSpPr/>
          <p:nvPr/>
        </p:nvSpPr>
        <p:spPr>
          <a:xfrm rot="1886219">
            <a:off x="4895190" y="4602351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５</a:t>
            </a:r>
            <a:endParaRPr kumimoji="1" lang="ja-JP" altLang="en-US" dirty="0"/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BB8FB434-6414-63FF-5ED8-265D8591B020}"/>
              </a:ext>
            </a:extLst>
          </p:cNvPr>
          <p:cNvSpPr/>
          <p:nvPr/>
        </p:nvSpPr>
        <p:spPr>
          <a:xfrm rot="1886219">
            <a:off x="5634184" y="1016077"/>
            <a:ext cx="593126" cy="763446"/>
          </a:xfrm>
          <a:prstGeom prst="downArrow">
            <a:avLst/>
          </a:prstGeom>
          <a:solidFill>
            <a:srgbClr val="0070C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６</a:t>
            </a:r>
          </a:p>
        </p:txBody>
      </p:sp>
    </p:spTree>
    <p:extLst>
      <p:ext uri="{BB962C8B-B14F-4D97-AF65-F5344CB8AC3E}">
        <p14:creationId xmlns:p14="http://schemas.microsoft.com/office/powerpoint/2010/main" val="355483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F9BF8-A379-F2A6-4552-4B845B30A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4EF1B-7776-DA32-F497-82165F7BE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ja-JP" altLang="en-US" sz="2800" dirty="0"/>
              <a:t>アプリを作る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170F18-0FA0-4367-EE3A-F511D16A4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１．受講者向け操作ガイド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.md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を見て。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markdown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形式 の テキスト。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　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Viewer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で成形。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Ctrl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＋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Shift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＋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k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＆ ｖ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　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AIA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の入力・出力として有用であり、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　プログラマが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Editor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で簡単に書けるドキュメント形式として定着。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２．いろいろ作ってみよう。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</a:t>
            </a:r>
            <a:r>
              <a:rPr lang="en-US" altLang="ja-JP" sz="2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excrcise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フォルダ を 見て。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050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C8757-FA40-1778-2F8D-AF324B8C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9CF9A1-2B7E-D9A8-C6BE-74ED1D71C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ja-JP" altLang="en-US" sz="2800" dirty="0"/>
              <a:t>学ぶ　・・・ 課題（</a:t>
            </a:r>
            <a:r>
              <a:rPr lang="en-US" altLang="ja-JP" sz="2800" dirty="0" err="1"/>
              <a:t>Excerise</a:t>
            </a:r>
            <a:r>
              <a:rPr lang="ja-JP" altLang="en-US" sz="2800" dirty="0"/>
              <a:t>）ごとに。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79DBF6-E616-5641-CCF2-EAA3B4826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１．班を作って。３～４人。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課題・作業は各自で。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　お互いのアウトプットの違いを比較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２．どんな違いがあったか。そこから何に気づいたか。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170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25334-F727-641E-143F-73350C34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83DEA-8692-6EE6-7A2F-493044DF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ja-JP" altLang="en-US" sz="2800" dirty="0"/>
              <a:t>プロンプトの精度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CB48F6-9240-9F61-9F05-CB92EE87A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62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１．雑に指示してみる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２．細かく指示してみる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何を細かくするかはあなた次第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３．こだわりを与えてみる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何にこだわるかはあなた次第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283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6C150A-0B17-8553-8F88-3D82E63E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ja-JP" altLang="en-US" sz="2800" dirty="0"/>
              <a:t>意図と違う問答の例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DD164D-A414-EBA0-21DD-8642C8B4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ダミーデータ生成に失敗したというメッセージが２回出ました。原因調査と報告を。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lvl="1" indent="0">
              <a:buNone/>
            </a:pPr>
            <a:endParaRPr kumimoji="1"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lvl="1" indent="0">
              <a:buNone/>
            </a:pPr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・・・</a:t>
            </a:r>
            <a:r>
              <a:rPr kumimoji="1"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XXX</a:t>
            </a:r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です。修正しますか？</a:t>
            </a:r>
            <a:endParaRPr kumimoji="1"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はい。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lvl="1" indent="0">
              <a:buNone/>
            </a:pP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・・・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xxx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完了。これで１回しか出なくなります。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3133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C6833-6E62-E796-0667-779E97144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962975-F851-ECE6-2C83-BBD41D34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sz="2800" dirty="0"/>
              <a:t>AI</a:t>
            </a:r>
            <a:r>
              <a:rPr lang="ja-JP" altLang="en-US" sz="2800" dirty="0"/>
              <a:t>のすごいところ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6BBDCD-9973-29F7-8459-D68C29431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要件すら推定してしまう。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＜－ 提案理由を考えてみる。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ただし、半分程度。</a:t>
            </a:r>
            <a:endParaRPr kumimoji="1"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ところが、その中に我々が気づいていなかった要件があったりする。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endParaRPr kumimoji="1"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設計スタイルが異なっていることも多い。＜－ 虚心坦懐に学ぶ。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React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の利点を生かす とか。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標準的なデザインパターンを使ってくる とか。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0420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B85C-7B48-7E53-124F-4FE6AFF50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3A395B-B8F1-E8A9-6C67-09346353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sz="2800" dirty="0"/>
              <a:t>AI</a:t>
            </a:r>
            <a:r>
              <a:rPr lang="ja-JP" altLang="en-US" sz="2800" dirty="0"/>
              <a:t>のやらかすところ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A3003A-FD99-9BAF-EE21-85F5986E5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10200" cy="4351338"/>
          </a:xfrm>
        </p:spPr>
        <p:txBody>
          <a:bodyPr>
            <a:normAutofit/>
          </a:bodyPr>
          <a:lstStyle/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単純に間違う。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迷走する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やりたがる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謝りたがる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無かったことにしたがる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取り返しがつかないことをやる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専門家のようにふるまう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適当なことをやる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忘れる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C364EC84-ED46-EEEC-3D60-CFD8C9F4DE7D}"/>
              </a:ext>
            </a:extLst>
          </p:cNvPr>
          <p:cNvSpPr/>
          <p:nvPr/>
        </p:nvSpPr>
        <p:spPr>
          <a:xfrm>
            <a:off x="5505450" y="2881312"/>
            <a:ext cx="533400" cy="15906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338026E7-D749-2002-1224-D28CDF3190EE}"/>
              </a:ext>
            </a:extLst>
          </p:cNvPr>
          <p:cNvSpPr txBox="1">
            <a:spLocks/>
          </p:cNvSpPr>
          <p:nvPr/>
        </p:nvSpPr>
        <p:spPr>
          <a:xfrm>
            <a:off x="6705600" y="1825625"/>
            <a:ext cx="4210050" cy="4351338"/>
          </a:xfrm>
          <a:prstGeom prst="roundRect">
            <a:avLst>
              <a:gd name="adj" fmla="val 9224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凄まじく優秀なポンコツ君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いいところをうまく使ってあげよう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猫 じゃなく 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犬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 っぽい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なのでしつけはできる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-&gt;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CLAUDE.md</a:t>
            </a:r>
          </a:p>
          <a:p>
            <a:pPr marL="0" indent="0" algn="ctr">
              <a:buNone/>
            </a:pP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94550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6098-B1A4-2F11-90BF-5D53A39C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638FB5-394F-562F-9400-0C751808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/>
          <a:lstStyle/>
          <a:p>
            <a:pPr lvl="1"/>
            <a:r>
              <a:rPr lang="en-US" altLang="ja-JP" sz="2800" dirty="0"/>
              <a:t>AI</a:t>
            </a:r>
            <a:r>
              <a:rPr lang="ja-JP" altLang="en-US" sz="2800" dirty="0"/>
              <a:t>時代のソフトウエア開発ロール（私見）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A5CA4D-3E28-D8AF-31BE-54FAD1447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428750"/>
            <a:ext cx="10382250" cy="47577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 コンダクタ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lvl="1" indent="0">
              <a:buNone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業務知識を基に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AIA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に適切な指示をし、アプリケーションを開発する。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 リードコンダクタ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lvl="1" indent="0">
              <a:buNone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豊富な業務知識と経験を基にコンダクタチームをリードしシステムをまとめ上げる。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 アーキテクト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AIA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の最大活用に最適な開発環境を整備し、コンダクタチームを支援するテックリード。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技術スタックの選定、プラットフォームと共通ライブラリの整備、プログラミング知見の提供など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 プロジェクトマネージャ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リソース配置を最適化して費用と時間を最小化し品質を最大化する。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6567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5D2B-FE9A-A30B-621F-210AC580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BB411-7E7C-67A3-645A-FDD499DA8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ja-JP" altLang="en-US" sz="2800" dirty="0"/>
              <a:t>振り返り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9828FE-9F20-D723-2636-A69BE70BF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6424" y="2152649"/>
            <a:ext cx="9477375" cy="402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何を学べたか。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気づき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知識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何が不足か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何をすべきか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5980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706</Words>
  <Application>Microsoft Office PowerPoint</Application>
  <PresentationFormat>ワイド画面</PresentationFormat>
  <Paragraphs>136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HGS教科書体</vt:lpstr>
      <vt:lpstr>Meiryo UI</vt:lpstr>
      <vt:lpstr>游ゴシック</vt:lpstr>
      <vt:lpstr>游ゴシック Light</vt:lpstr>
      <vt:lpstr>Arial</vt:lpstr>
      <vt:lpstr>Office テーマ</vt:lpstr>
      <vt:lpstr>一般社団法人秋田県情報産業協会 令和８年度 第１７回 合同新入社員研修（一般研修）</vt:lpstr>
      <vt:lpstr>講師</vt:lpstr>
      <vt:lpstr>「AIと一緒にアプリを作ってみよう」</vt:lpstr>
      <vt:lpstr>開発環境をGET</vt:lpstr>
      <vt:lpstr>ClaudeCode の セットアップ</vt:lpstr>
      <vt:lpstr>アプリを作る</vt:lpstr>
      <vt:lpstr>学ぶ　・・・ 課題（Excerise）ごとに。</vt:lpstr>
      <vt:lpstr>プロンプトの精度</vt:lpstr>
      <vt:lpstr>意図と違う問答の例</vt:lpstr>
      <vt:lpstr>AIのすごいところ</vt:lpstr>
      <vt:lpstr>AIのやらかすところ</vt:lpstr>
      <vt:lpstr>AI時代のソフトウエア開発ロール（私見）</vt:lpstr>
      <vt:lpstr>振り返り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菅原　亘</dc:creator>
  <cp:lastModifiedBy>菅原　亘</cp:lastModifiedBy>
  <cp:revision>2</cp:revision>
  <dcterms:created xsi:type="dcterms:W3CDTF">2026-04-09T20:54:07Z</dcterms:created>
  <dcterms:modified xsi:type="dcterms:W3CDTF">2026-04-10T00:22:06Z</dcterms:modified>
</cp:coreProperties>
</file>